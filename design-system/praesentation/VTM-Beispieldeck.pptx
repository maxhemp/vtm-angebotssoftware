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Reichweite</c:v>
                </c:pt>
              </c:strCache>
            </c:strRef>
          </c:tx>
          <c:spPr>
            <a:solidFill>
              <a:srgbClr val="1F4EFF"/>
            </a:solidFill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9A035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1C3C"/>
                    </a:solidFill>
                    <a:latin typeface="IBM Plex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Newsletter-Empfänger</c:v>
                  </c:pt>
                  <c:pt idx="1">
                    <c:v>LinkedIn-Follower im Team-Netzwerk</c:v>
                  </c:pt>
                  <c:pt idx="2">
                    <c:v>Podcast-Downloads pro Monat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6000</c:v>
                </c:pt>
                <c:pt idx="1">
                  <c:v>20000</c:v>
                </c:pt>
                <c:pt idx="2">
                  <c:v>35000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D1C3C"/>
                  </a:solidFill>
                  <a:latin typeface="IBM Plex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D1C3C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Einsatz: Erste Folie jedes Partnertermins. Titel immer als Aussage formulieren, nicht als Themenwort. Nachtblau bleibt Cover, Kapiteltrennern und Abschluss vorbehalten. Übergang: kurz das Haus vorstellen, dann zur Agenda. PDF-Versand: Datumszeile (Mono) vor jedem Export aktualisieren – sie ist die einzige Stelle mit Versionsstand auf dem Cover.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Einsatz: Nummerierung entspricht der echten Reihenfolge des Decks – bei Umbau des Decks Agenda zwingend mitziehen. Rechte Hälfte bleibt bewusst leer (Weißraum gehört zum System). Übergang: Kapitel 01 ankündigen. PDF-Versand: prüfen, ob alle vier Kapitel im versendeten Auszug enthalten sind, sonst Agenda kürzen.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Einsatz: Ein Trenner pro Kapitel, Kapitelzahl entspricht der Agenda. Kompakter dunkler Anker – im Vortrag nur wenige Sekunden stehen lassen. Übergang: einen Satz zum Kapitelinhalt sagen, nicht vorlesen. PDF-Versand: Trenner drin lassen, sie strukturieren das Dokument beim Scrollen.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Einsatz: Genau eine These pro Statement-Folie, keine Aufzählungen. Sparsam verwenden – höchstens ein Statement pro Kapitel. Übergang: These kurz begründen, dann zum Team. PDF-Versand: Statement-Folien funktionieren ohne Vortrag, daher unverändert versandfähig.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Einsatz: Herausgeber links groß, Vertriebsteam als Reihe – Asymmetrie beibehalten, keine fünf gleich großen Kacheln. Rollen: Hempel = Gründer und Herausgeber; Dahmen, Härle, Oberhofer, Passler = Partnerbetreuung und Vertrieb. Übergang: zum Netzwerk (Vollbildfoto) überleiten. PDF-Versand: Fotos sind eingebettet, Dateigröße im Blick behalten (ggf. PDF komprimieren).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Einsatz: Vollbildfoto als atmosphärischer Übergang zwischen Kapiteln, maximal ein- bis zweimal pro Deck. Nachtblau-Schleier (42 % Transparenz) liegt immer über dem Foto, damit weiße Titel lesbar bleiben. Foto und Schleier liegen auf der Folie, nicht im Layout. Übergang: leitet hier zu Reichweite und Belegen über. PDF-Versand: Kontrast im Export prüfen – der Schleier muss erhalten bleiben.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Einsatz: Natives PowerPoint-Diagramm, Werte über „Daten bearbeiten“ pflegbar. Electric ist die Datenfarbe; Gold markiert genau EINEN Wert – den belegten Spitzenwert (Podcast). Nie mehrere goldene Balken. Übergang: von der Verteilung zu den vier Kennzahlen. PDF-Versand: Diagramm wird als Vektor exportiert, bleibt scharf; Quellenzeile (Mono) muss sichtbar bleiben.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Einsatz: Genau die vier belegten Kennzahlen, keine weiteren Zahlen ergänzen. Goldene Belegmarke plus Mono-Quellenzeile gehören zu jeder Kennzahl – Gold ist ausschließlich Belegfarbe. VTM verspricht fachliche Sichtbarkeit, keine Leads oder Abschlüsse; so auch moderieren. Übergang: vom Beleg zur Einordnung (Zitat). PDF-Versand: Quellenzeilen nicht abschneiden, Folie unverändert 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Einsatz: Zitate in Serif (Georgia als dokumentierter Fallback für Newsreader), Quelle in Mono darunter. Nur echte, freigegebene Zitate verwenden – dieses ist als Demonstrationsinhalt gekennzeichnet und vor Kundeneinsatz zu ersetzen oder freizugeben. Übergang: leitet zu Kapitel 03, Leistungen und Preise. PDF-Versand: Kennzeichnung „Demonstrationsinhalt“ entfernen, sobald ein freigegebenes Zitat eingesetzt 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Einsatz: Vollständige Preisliste der Einzelformate; Preise nur zentral pflegen, nie pro Termin rabattiert überschreiben (Staffel gilt nur für Sponsored LinkedIn Posts). Zahlen in Tabellen stehen in IBM Plex Mono, rechtsbündig. Übergang: von den Einzelformaten zu den Jahresprogrammen (Stufenmodell). PDF-Versand: Tabelle ist die meistzitierte Folie – Preisstand vor jedem Versand gegen die Mediadaten prüfen.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Einsatz: Die drei Stufen steigen von links nach rechts – echte Rangfolge nach Umfang, deshalb unterschiedliche Höhen statt drei identischer Karten. Kurzbeschreibungen sind bewusst allgemein; konkrete Bestandteile nur aus den Mediadaten ergänzen. Übergang: Vergleichsfolie beantwortet „Einzelformat oder Programm?“. PDF-Versand: „ab“-Preise nicht entfernen – sie sind Teil der Preisaussage.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Einsatz: Zwei-Spalten-Vergleich nur für echte Entweder-oder-Entscheidungen. Die rechte Spalte trägt die Eisblau-Fläche als ruhige Betonung – kein Electric, solange nichts ausgewählt ist. Übergang: zum Ablauf der Zusammenarbeit (Prozess). PDF-Versand: Beide Spalten müssen ohne Moderation verständlich sein; ggf. einen Satz Einordnung in den Anschreibetext nehmen.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Einsatz: Vier Schritte in echter Reihenfolge, horizontal auf der Zeitachse – Nummern nur verwenden, wenn die Reihenfolge stimmt. Electric markiert die Stationen (aktive Punkte), nicht dekorativ. Übergang: vom Ablauf zum konkreten Fallbeispiel. PDF-Versand: Folie funktioniert eigenständig; keine Animationen verwenden, damit Export und Vortrag identisch sind.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Einsatz: Bild-Text-Folie in 7/5-Teilung; Motive nur aus dem Asset-Ordner des Design Systems, Mono-Caption „Illustration“ bleibt am Bild, solange das Motiv kein Projektfoto ist. Der goldene Belegblock trägt den entscheidenden Wert (Preis). Übergang: zum Abschluss und Kontakt. PDF-Versand: Bildrechte sind für VTM-Material geklärt; Fremdbilder vor Versand ersetzen oder klären.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Einsatz: Abschlussfolie als kompakter Nachtblau-Anker; genau eine Handlungsaufforderung (Kontakt aufnehmen), keine weiteren Angebote. Übergang: Termin oder nächsten Schritt konkret vereinbaren. PDF-Versand: Diese Folie ist im PDF die Kontaktseite – E-Mail-Adresse und Firmenangaben vor Versand auf Aktualität prüfen; Foliennummern/Fußzeile fehlen hier bewusst.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2-1.png"/><Relationship Id="rId2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3-1.png"/><Relationship Id="rId2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4-1.png"/><Relationship Id="rId2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TM Cover">
    <p:bg>
      <p:bgPr>
        <a:solidFill>
          <a:srgbClr val="0D1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VTM-Angebotssoftware/design-system/assets/logo/vtm-logo-wei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1197864" cy="24688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2331720"/>
            <a:ext cx="9144000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Titel der Präsentation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2062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CDD9F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CD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Untertitel oder Anlass</a:t>
            </a:r>
            <a:endParaRPr lang="en-US" sz="15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7C9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7C9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Ort · Stand: MM/JJJJ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TM A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VTM-Angebotssoftware/design-system/assets/logo/vtm-logo-far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4048"/>
            <a:ext cx="1143000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373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69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VersicherungsTech Magazin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412480" y="6437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9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Stand: 08/2026</a:t>
            </a:r>
            <a:endParaRPr lang="en-US" sz="8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685800" y="822960"/>
            <a:ext cx="94183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Aussage-Titel: eine Kernaussage pro Folie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37376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98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TM Kapiteltrenner">
    <p:bg>
      <p:bgPr>
        <a:solidFill>
          <a:srgbClr val="0D1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VTM-Angebotssoftware/design-system/assets/logo/vtm-logo-wei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02920"/>
            <a:ext cx="1197864" cy="246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373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CCD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VersicherungsTech Magazin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412480" y="6437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CCD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Stand: 08/2026</a:t>
            </a:r>
            <a:endParaRPr lang="en-US" sz="8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658368" y="1417320"/>
            <a:ext cx="420624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600" b="1" dirty="0">
                <a:solidFill>
                  <a:srgbClr val="7C96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600" b="1" dirty="0">
                <a:solidFill>
                  <a:srgbClr val="7C96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01</a:t>
            </a:r>
            <a:endParaRPr lang="en-US" sz="96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685800" y="3703320"/>
            <a:ext cx="8778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Kapiteltitel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37376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CCDE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TM Statem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VTM-Angebotssoftware/design-system/assets/logo/vtm-logo-far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4048"/>
            <a:ext cx="1143000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373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69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VersicherungsTech Magazin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412480" y="6437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9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Stand: 08/2026</a:t>
            </a:r>
            <a:endParaRPr lang="en-US" sz="8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685800" y="2240280"/>
            <a:ext cx="95097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Eine These, groß gesetzt.</a:t>
            </a:r>
            <a:endParaRPr lang="en-US" sz="32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685800" y="4572000"/>
            <a:ext cx="78638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3A4763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3A4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Einordnung in einem Satz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37376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98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TM Tea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VTM-Angebotssoftware/design-system/assets/logo/vtm-logo-far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4048"/>
            <a:ext cx="1143000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373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69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VersicherungsTech Magazin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412480" y="6437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9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Stand: 08/2026</a:t>
            </a:r>
            <a:endParaRPr lang="en-US" sz="8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685800" y="822960"/>
            <a:ext cx="94183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Aussage-Titel: eine Kernaussage pro Folie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37376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98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TM Tabel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VTM-Angebotssoftware/design-system/assets/logo/vtm-logo-far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4048"/>
            <a:ext cx="1143000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373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69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VersicherungsTech Magazin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412480" y="6437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9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Stand: 08/2026</a:t>
            </a:r>
            <a:endParaRPr lang="en-US" sz="8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685800" y="822960"/>
            <a:ext cx="94183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Aussage-Titel: eine Kernaussage pro Folie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37376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98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TM Prozes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VTM-Angebotssoftware/design-system/assets/logo/vtm-logo-far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4048"/>
            <a:ext cx="1143000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373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69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VersicherungsTech Magazin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412480" y="6437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9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Stand: 08/2026</a:t>
            </a:r>
            <a:endParaRPr lang="en-US" sz="8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685800" y="822960"/>
            <a:ext cx="94183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Aussage-Titel: eine Kernaussage pro Folie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37376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98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TM Stufenmodel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VTM-Angebotssoftware/design-system/assets/logo/vtm-logo-far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4048"/>
            <a:ext cx="1143000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373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69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VersicherungsTech Magazin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412480" y="6437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9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Stand: 08/2026</a:t>
            </a:r>
            <a:endParaRPr lang="en-US" sz="8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685800" y="822960"/>
            <a:ext cx="94183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Aussage-Titel: eine Kernaussage pro Folie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37376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98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TM Diagram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VTM-Angebotssoftware/design-system/assets/logo/vtm-logo-far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4048"/>
            <a:ext cx="1143000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373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69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VersicherungsTech Magazin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412480" y="6437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9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Stand: 08/2026</a:t>
            </a:r>
            <a:endParaRPr lang="en-US" sz="8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685800" y="822960"/>
            <a:ext cx="94183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Aussage-Titel: eine Kernaussage pro Folie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37376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98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TM Vergleic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VTM-Angebotssoftware/design-system/assets/logo/vtm-logo-far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4048"/>
            <a:ext cx="1143000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373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69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VersicherungsTech Magazin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412480" y="6437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9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Stand: 08/2026</a:t>
            </a:r>
            <a:endParaRPr lang="en-US" sz="8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685800" y="822960"/>
            <a:ext cx="94183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Aussage-Titel: eine Kernaussage pro Folie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37376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98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TM Fallbeispi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VTM-Angebotssoftware/design-system/assets/logo/vtm-logo-far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4048"/>
            <a:ext cx="1143000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373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69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VersicherungsTech Magazin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412480" y="6437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9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Stand: 08/2026</a:t>
            </a:r>
            <a:endParaRPr lang="en-US" sz="8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685800" y="822960"/>
            <a:ext cx="94183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Aussage-Titel: eine Kernaussage pro Folie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37376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98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TM Kennzahlen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VTM-Angebotssoftware/design-system/assets/logo/vtm-logo-far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4048"/>
            <a:ext cx="1143000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373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69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VersicherungsTech Magazin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412480" y="6437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9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Stand: 08/2026</a:t>
            </a:r>
            <a:endParaRPr lang="en-US" sz="8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685800" y="822960"/>
            <a:ext cx="94183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Aussage-Titel: eine Kernaussage pro Folie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37376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98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TM Zitat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VTM-Angebotssoftware/design-system/assets/logo/vtm-logo-far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4048"/>
            <a:ext cx="1143000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373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69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VersicherungsTech Magazin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8412480" y="6437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9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Stand: 08/2026</a:t>
            </a:r>
            <a:endParaRPr lang="en-US" sz="8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1371600" y="1920240"/>
            <a:ext cx="914400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500" i="1" dirty="0">
                <a:solidFill>
                  <a:srgbClr val="0D1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500" i="1" dirty="0">
                <a:solidFill>
                  <a:srgbClr val="0D1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„Zitat in redaktioneller Serif-Anmutung.“</a:t>
            </a:r>
            <a:endParaRPr lang="en-US" sz="25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1371600" y="4663440"/>
            <a:ext cx="7315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8A6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8A6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 · Rolle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37376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98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1014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TM Vollbildfoto">
    <p:bg>
      <p:bgPr>
        <a:solidFill>
          <a:srgbClr val="0D1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TM Kontakt">
    <p:bg>
      <p:bgPr>
        <a:solidFill>
          <a:srgbClr val="0D1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VTM-Angebotssoftware/design-system/assets/logo/vtm-logo-wei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02920"/>
            <a:ext cx="1197864" cy="24688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463040"/>
            <a:ext cx="69494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Abschluss-Aussage</a:t>
            </a: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37376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98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5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6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85800" y="2331720"/>
            <a:ext cx="9144000" cy="1783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Partnerformate des VersicherungsTech Magazins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85800" y="42062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CD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Angebot für Partner in der DACH-Versicherungsbranche: Redaktion, Newsletter, Podcast, LinkedIn.</a:t>
            </a:r>
            <a:endParaRPr lang="en-US" sz="15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8580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dirty="0">
                <a:solidFill>
                  <a:srgbClr val="7C9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Bergisch Gladbach · Stand: 08/2026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685800" y="822960"/>
            <a:ext cx="9418320" cy="10515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Vier Kapitel: vom Team über die Belege zu den Programmen.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5800" y="2240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463040" y="22402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Wer wir sind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63040" y="258775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9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Team, Auftrag und Netzwerk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2990088"/>
            <a:ext cx="6172200" cy="0"/>
          </a:xfrm>
          <a:prstGeom prst="line">
            <a:avLst/>
          </a:prstGeom>
          <a:noFill/>
          <a:ln w="12700">
            <a:solidFill>
              <a:srgbClr val="E3EB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13639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313639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Reichweite und Belege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348386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9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Kanäle und Kennzahlen, Stand 08/2026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3886200"/>
            <a:ext cx="6172200" cy="0"/>
          </a:xfrm>
          <a:prstGeom prst="line">
            <a:avLst/>
          </a:prstGeom>
          <a:noFill/>
          <a:ln w="12700">
            <a:solidFill>
              <a:srgbClr val="E3EB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03250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403250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Leistungen und Preise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437997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9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Einzelformate und Jahresprogramme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4782312"/>
            <a:ext cx="6172200" cy="0"/>
          </a:xfrm>
          <a:prstGeom prst="line">
            <a:avLst/>
          </a:prstGeom>
          <a:noFill/>
          <a:ln w="12700">
            <a:solidFill>
              <a:srgbClr val="E3EB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92861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492861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Zusammenarbeit und Kontakt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527608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9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Ablauf, Fallbeispiel, Ansprechpartner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37376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98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658368" y="141732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7C96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685800" y="370332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Wer wir sind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37376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CCDE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685800" y="2240280"/>
            <a:ext cx="9509760" cy="21031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Fachliche Sichtbarkeit entsteht durch Belege, nicht durch Behauptungen.</a:t>
            </a:r>
            <a:endParaRPr lang="en-US" sz="32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685800" y="4572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dirty="0">
                <a:solidFill>
                  <a:srgbClr val="3A4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Leitsatz des VersicherungsTech Magazins für alle Partnerformate.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37376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98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685800" y="822960"/>
            <a:ext cx="9418320" cy="10515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Fünf Ansprechpartner für Redaktion und Partnerschaften.</a:t>
            </a:r>
            <a:endParaRPr lang="en-US" sz="2600" dirty="0"/>
          </a:p>
        </p:txBody>
      </p:sp>
      <p:pic>
        <p:nvPicPr>
          <p:cNvPr id="3" name="Image 0" descr="/home/user/VTM-Angebotssoftware/design-system/assets/team/maximilian-hempe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03120"/>
            <a:ext cx="219456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4956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Maximilian Hempel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85800" y="52303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9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Gründer und Herausgeber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794760" y="2103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C69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PARTNERBETREUUNG UND VERTRIEB</a:t>
            </a:r>
            <a:endParaRPr lang="en-US" sz="1050" dirty="0"/>
          </a:p>
        </p:txBody>
      </p:sp>
      <p:pic>
        <p:nvPicPr>
          <p:cNvPr id="7" name="Image 1" descr="/home/user/VTM-Angebotssoftware/design-system/assets/team/maximilian-dahme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2514600"/>
            <a:ext cx="1517904" cy="19019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94760" y="45079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1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Maximilian Dahmen</a:t>
            </a:r>
            <a:endParaRPr lang="en-US" sz="1100" dirty="0"/>
          </a:p>
        </p:txBody>
      </p:sp>
      <p:pic>
        <p:nvPicPr>
          <p:cNvPr id="9" name="Image 2" descr="/home/user/VTM-Angebotssoftware/design-system/assets/team/lukas-haerl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2514600"/>
            <a:ext cx="1517904" cy="19019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733288" y="45079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1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Lukas Härle</a:t>
            </a:r>
            <a:endParaRPr lang="en-US" sz="1100" dirty="0"/>
          </a:p>
        </p:txBody>
      </p:sp>
      <p:pic>
        <p:nvPicPr>
          <p:cNvPr id="11" name="Image 3" descr="/home/user/VTM-Angebotssoftware/design-system/assets/team/johannes-oberhofer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1816" y="2514600"/>
            <a:ext cx="1517904" cy="190195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671816" y="45079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1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Johannes Oberhofer</a:t>
            </a:r>
            <a:endParaRPr lang="en-US" sz="1100" dirty="0"/>
          </a:p>
        </p:txBody>
      </p:sp>
      <p:pic>
        <p:nvPicPr>
          <p:cNvPr id="13" name="Image 4" descr="/home/user/VTM-Angebotssoftware/design-system/assets/team/karl-heinz-passler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0344" y="2514600"/>
            <a:ext cx="1517904" cy="190195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610344" y="45079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1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Karl Heinz Passler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37376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98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VTM-Angebotssoftware/design-system/assets/bilder/motiv-skyline-blaue-stund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C3C">
              <a:alpha val="58000"/>
            </a:srgbClr>
          </a:solidFill>
          <a:ln/>
        </p:spPr>
      </p:sp>
      <p:pic>
        <p:nvPicPr>
          <p:cNvPr id="4" name="Image 1" descr="/home/user/VTM-Angebotssoftware/design-system/assets/logo/vtm-logo-wei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2920"/>
            <a:ext cx="1197864" cy="2468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5800" y="48920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Reichweite entsteht im Netzwerk der Branche.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685800" y="58978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3DF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Insurance Monday · InsurLab Germany · InsurTech Werft · FRIDA e.V.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685800" y="822960"/>
            <a:ext cx="9418320" cy="10515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35.000 Podcast-Downloads im Monat sind der stärkste Kanal.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85800" y="2011680"/>
          <a:ext cx="67665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863840" y="2103120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 Podcast Insurance Monday trägt den größten Teil der monatlichen Reichweite. Newsletter und LinkedIn ergänzen ihn mit direktem Zugang zu Fach- und Führungskräften.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863840" y="5394960"/>
            <a:ext cx="301752" cy="32004"/>
          </a:xfrm>
          <a:prstGeom prst="rect">
            <a:avLst/>
          </a:prstGeom>
          <a:solidFill>
            <a:srgbClr val="C9A035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547725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Quelle: VTM Mediadaten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A6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Stand: 08/2026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37376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98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685800" y="822960"/>
            <a:ext cx="9418320" cy="10515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Vier Kennzahlen beschreiben die Reichweite, Stand 08/2026.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2148840"/>
            <a:ext cx="301752" cy="32004"/>
          </a:xfrm>
          <a:prstGeom prst="rect">
            <a:avLst/>
          </a:prstGeom>
          <a:solidFill>
            <a:srgbClr val="C9A035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25856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35.000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85800" y="30815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Podcast-Downloads pro Monat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33924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6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Quelle: Insurance Monday · Stand: 08/2026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355080" y="2148840"/>
            <a:ext cx="301752" cy="32004"/>
          </a:xfrm>
          <a:prstGeom prst="rect">
            <a:avLst/>
          </a:prstGeom>
          <a:solidFill>
            <a:srgbClr val="C9A035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225856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6.000+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355080" y="30815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Newsletter-Empfänger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5080" y="33924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6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Quelle: VTM Mediadaten · Stand: 08/2026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4160520"/>
            <a:ext cx="301752" cy="32004"/>
          </a:xfrm>
          <a:prstGeom prst="rect">
            <a:avLst/>
          </a:prstGeom>
          <a:solidFill>
            <a:srgbClr val="C9A035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27024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rund 50 %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85800" y="50932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Öffnungsrate des Newsletters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54041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6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Quelle: VTM Mediadaten · Stand: 08/2026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55080" y="4160520"/>
            <a:ext cx="301752" cy="32004"/>
          </a:xfrm>
          <a:prstGeom prst="rect">
            <a:avLst/>
          </a:prstGeom>
          <a:solidFill>
            <a:srgbClr val="C9A035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427024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20.000+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355080" y="50932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LinkedIn-Follower im Team-Netzwerk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54041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6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Quelle: VTM Mediadaten · Stand: 08/2026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37376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98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1371600" y="1920240"/>
            <a:ext cx="9144000" cy="24688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500" i="1" dirty="0">
                <a:solidFill>
                  <a:srgbClr val="0D1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„Sichtbarkeit in der Fachöffentlichkeit entsteht durch Substanz: nachvollziehbare Inhalte, klare Quellen und ehrliche Einordnung.“</a:t>
            </a:r>
            <a:endParaRPr lang="en-US" sz="25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1371600" y="4663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dirty="0">
                <a:solidFill>
                  <a:srgbClr val="8A6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Maximilian Hempel · Gründer und Herausgeber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71600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9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Demonstrationsinhalt des Design Systems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37376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98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685800" y="822960"/>
            <a:ext cx="9418320" cy="10515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Zehn Formate, ein Preis pro Format – alle Preise netto.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74520"/>
          <a:ext cx="877824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1828800"/>
                <a:gridCol w="2011680"/>
              </a:tblGrid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1C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Leistung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1C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Turnus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D1C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Preis netto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3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C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Fachartikel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7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einmalig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D1C3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900 €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C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Executive Interview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7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einmalig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D1C3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1.200 €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C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Sponsored LinkedIn Post*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7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einmalig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D1C3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750 €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C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Website-Banner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7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monatlich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D1C3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1.200 €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C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Newsletter-Sponsoring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7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monatlich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D1C3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1.900 €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C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Banner Website + App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7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monatlich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D1C3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2.000 €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C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LinkedIn as a Service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7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monatlich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D1C3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2.500 €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C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Case Study inkl. Lead-Liste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7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einmalig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D1C3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3.000 €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C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Podcast-Episode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7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einmalig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D1C3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3.500 €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C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Quartalssponsoring Insurance Monday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7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quartalsweise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D1C3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30.000 €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85800" y="5806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9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ab 5 Beiträgen −10 %, ab 10 Beiträgen −20 %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9829800" y="1920240"/>
            <a:ext cx="301752" cy="32004"/>
          </a:xfrm>
          <a:prstGeom prst="rect">
            <a:avLst/>
          </a:prstGeom>
          <a:solidFill>
            <a:srgbClr val="C9A035"/>
          </a:solidFill>
          <a:ln/>
        </p:spPr>
      </p:sp>
      <p:sp>
        <p:nvSpPr>
          <p:cNvPr id="6" name="Text 3"/>
          <p:cNvSpPr/>
          <p:nvPr/>
        </p:nvSpPr>
        <p:spPr>
          <a:xfrm>
            <a:off x="9829800" y="200253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6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Quelle: VTM Mediadaten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A6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Stand: 08/2026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37376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98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685800" y="822960"/>
            <a:ext cx="9418320" cy="10515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Drei Jahresprogramme, aufsteigend im Umfang.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3703320"/>
            <a:ext cx="3291840" cy="2103120"/>
          </a:xfrm>
          <a:prstGeom prst="rect">
            <a:avLst/>
          </a:prstGeom>
          <a:solidFill>
            <a:srgbClr val="F7FAFE"/>
          </a:solidFill>
          <a:ln w="9525">
            <a:solidFill>
              <a:srgbClr val="D3D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39044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Startup Presence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42519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ab 12.000 €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48188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Einstieg für junge Anbieter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3063240"/>
            <a:ext cx="3291840" cy="2743200"/>
          </a:xfrm>
          <a:prstGeom prst="rect">
            <a:avLst/>
          </a:prstGeom>
          <a:solidFill>
            <a:srgbClr val="EFF4FC"/>
          </a:solidFill>
          <a:ln w="9525">
            <a:solidFill>
              <a:srgbClr val="D3DF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32644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Presence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26280" y="3611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ab 25.000 €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26280" y="41788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Präsenz in der eigenen Kategorie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09560" y="2423160"/>
            <a:ext cx="3291840" cy="3383280"/>
          </a:xfrm>
          <a:prstGeom prst="rect">
            <a:avLst/>
          </a:prstGeom>
          <a:solidFill>
            <a:srgbClr val="E3EBF8"/>
          </a:solidFill>
          <a:ln w="9525">
            <a:solidFill>
              <a:srgbClr val="D3DF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26243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Authority Program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138160" y="29718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ab 70.000 €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138160" y="35387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Umfassende Begleitung übers Jahr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5989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9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Jahresprogramme · Preise pro Jahr, netto · Details in den Mediadaten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37376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98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685800" y="822960"/>
            <a:ext cx="9418320" cy="10515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Einzelformate für den Einstieg, Jahresprogramme für kontinuierliche Präsenz.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2011680"/>
            <a:ext cx="50292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2240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Einzelformate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269748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Buchung je Format, ohne Laufzeit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Einstieg ab 750 € netto (Sponsored LinkedIn Post)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Beispiele: Fachartikel 900 €, Executive Interview 1.200 €, Podcast-Episode 3.500 €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80760" y="2011680"/>
            <a:ext cx="5029200" cy="3657600"/>
          </a:xfrm>
          <a:prstGeom prst="rect">
            <a:avLst/>
          </a:prstGeom>
          <a:solidFill>
            <a:srgbClr val="EFF4FC"/>
          </a:solidFill>
          <a:ln w="9525">
            <a:solidFill>
              <a:srgbClr val="D3DF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2240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Jahresprogramme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55080" y="269748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Planung über zwölf Monate, feste Präsenz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Startup Presence ab 12.000 €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Presence ab 25.000 €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Authority Program ab 70.000 €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37376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98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685800" y="822960"/>
            <a:ext cx="9418320" cy="10515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Vom Briefing zur Veröffentlichung in vier Schritten.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2834640"/>
            <a:ext cx="9966960" cy="0"/>
          </a:xfrm>
          <a:prstGeom prst="line">
            <a:avLst/>
          </a:prstGeom>
          <a:noFill/>
          <a:ln w="12700">
            <a:solidFill>
              <a:srgbClr val="D3D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" y="2761488"/>
            <a:ext cx="146304" cy="146304"/>
          </a:xfrm>
          <a:prstGeom prst="ellipse">
            <a:avLst/>
          </a:prstGeom>
          <a:solidFill>
            <a:srgbClr val="1F4E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240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35204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Ziele, Thema und Format werden gemeinsam festgelegt.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9000" y="2761488"/>
            <a:ext cx="146304" cy="146304"/>
          </a:xfrm>
          <a:prstGeom prst="ellipse">
            <a:avLst/>
          </a:prstGeom>
          <a:solidFill>
            <a:srgbClr val="1F4EFF"/>
          </a:solidFill>
          <a:ln/>
        </p:spPr>
      </p:sp>
      <p:sp>
        <p:nvSpPr>
          <p:cNvPr id="9" name="Text 7"/>
          <p:cNvSpPr/>
          <p:nvPr/>
        </p:nvSpPr>
        <p:spPr>
          <a:xfrm>
            <a:off x="3410712" y="2240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10712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Produktion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10712" y="35204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 Redaktion erstellt den Beitrag und stimmt Fakten ab.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53912" y="2761488"/>
            <a:ext cx="146304" cy="146304"/>
          </a:xfrm>
          <a:prstGeom prst="ellipse">
            <a:avLst/>
          </a:prstGeom>
          <a:solidFill>
            <a:srgbClr val="1F4EFF"/>
          </a:solidFill>
          <a:ln/>
        </p:spPr>
      </p:sp>
      <p:sp>
        <p:nvSpPr>
          <p:cNvPr id="13" name="Text 11"/>
          <p:cNvSpPr/>
          <p:nvPr/>
        </p:nvSpPr>
        <p:spPr>
          <a:xfrm>
            <a:off x="6135624" y="2240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35624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Freigabe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35624" y="35204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Sie prüfen den Entwurf und geben ihn frei.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78824" y="2761488"/>
            <a:ext cx="146304" cy="146304"/>
          </a:xfrm>
          <a:prstGeom prst="ellipse">
            <a:avLst/>
          </a:prstGeom>
          <a:solidFill>
            <a:srgbClr val="1F4EFF"/>
          </a:solidFill>
          <a:ln/>
        </p:spPr>
      </p:sp>
      <p:sp>
        <p:nvSpPr>
          <p:cNvPr id="17" name="Text 15"/>
          <p:cNvSpPr/>
          <p:nvPr/>
        </p:nvSpPr>
        <p:spPr>
          <a:xfrm>
            <a:off x="8860536" y="2240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860536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Veröffentlichung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860536" y="35204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Ausspielung über die vereinbarten Kanäle.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37376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98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685800" y="822960"/>
            <a:ext cx="9418320" cy="10515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C3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Fallbeispiel: Case Study mit redaktioneller Produktion.</a:t>
            </a:r>
            <a:endParaRPr lang="en-US" sz="2600" dirty="0"/>
          </a:p>
        </p:txBody>
      </p:sp>
      <p:pic>
        <p:nvPicPr>
          <p:cNvPr id="3" name="Image 0" descr="/home/user/VTM-Angebotssoftware/design-system/assets/bilder/motiv-rechenzentru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11680"/>
            <a:ext cx="5669280" cy="31638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52486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9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Illustration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812280" y="205740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Eine Case Study dokumentiert ein Projekt aus der Praxis: Ausgangslage, Umsetzung und Ergebnis, erzählt aus Sicht des Anwenders.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812280" y="3200400"/>
            <a:ext cx="4434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 Redaktion des VTM produziert den Beitrag, der Partner gibt ihn vor Veröffentlichung frei. Enthalten ist eine Lead-Liste der Leser – eine Zusage über Abschlüsse oder Vertriebserfolge ist damit ausdrücklich nicht verbunden.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812280" y="4983480"/>
            <a:ext cx="301752" cy="32004"/>
          </a:xfrm>
          <a:prstGeom prst="rect">
            <a:avLst/>
          </a:prstGeom>
          <a:solidFill>
            <a:srgbClr val="C9A035"/>
          </a:solidFill>
          <a:ln/>
        </p:spPr>
      </p:sp>
      <p:sp>
        <p:nvSpPr>
          <p:cNvPr id="8" name="Text 5"/>
          <p:cNvSpPr/>
          <p:nvPr/>
        </p:nvSpPr>
        <p:spPr>
          <a:xfrm>
            <a:off x="6812280" y="506577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6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Case Study inkl. Lead-Liste: 3.000 € netto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A6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Quelle: VTM Mediadaten · Stand: 08/2026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37376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98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85800" y="146304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Sprechen wir über Ihr Thema.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3063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Maximilian Hempel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34015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3DF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Gründer und Herausgeber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39776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info@versicherungstech-magazin.de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43434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versicherungstech-magazin.de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5074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CCD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VersicherungsTech Media UG (haftungsbeschränkt) · Moitzfeld 17 · 51429 Bergisch Gladbach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53949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CD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HRB 126738 · Amtsgericht Köln</a:t>
            </a:r>
            <a:endParaRPr lang="en-US" sz="900" dirty="0"/>
          </a:p>
        </p:txBody>
      </p:sp>
      <p:pic>
        <p:nvPicPr>
          <p:cNvPr id="9" name="Image 0" descr="/home/user/VTM-Angebotssoftware/design-system/assets/team/maximilian-hempe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2103120"/>
            <a:ext cx="2377440" cy="2971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TM Signal 5.0">
      <a:dk1>
        <a:srgbClr val="0D1C3C"/>
      </a:dk1>
      <a:lt1>
        <a:srgbClr val="FFFFFF"/>
      </a:lt1>
      <a:dk2>
        <a:srgbClr val="3A4763"/>
      </a:dk2>
      <a:lt2>
        <a:srgbClr val="EFF4FC"/>
      </a:lt2>
      <a:accent1>
        <a:srgbClr val="1F4EFF"/>
      </a:accent1>
      <a:accent2>
        <a:srgbClr val="C9A035"/>
      </a:accent2>
      <a:accent3>
        <a:srgbClr val="128760"/>
      </a:accent3>
      <a:accent4>
        <a:srgbClr val="C24B33"/>
      </a:accent4>
      <a:accent5>
        <a:srgbClr val="7C96FF"/>
      </a:accent5>
      <a:accent6>
        <a:srgbClr val="0D1C3C"/>
      </a:accent6>
      <a:hlink>
        <a:srgbClr val="1F4EFF"/>
      </a:hlink>
      <a:folHlink>
        <a:srgbClr val="173BC4"/>
      </a:folHlink>
    </a:clrScheme>
    <a:fontScheme name="Office">
      <a:majorFont>
        <a:latin typeface="Schibsted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VersicherungsTech Media UG (haftungsbeschränkt)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VTM Beispieldeck · Design System 5.0 Signal</dc:title>
  <dc:subject>PptxGenJS Presentation</dc:subject>
  <dc:creator>VersicherungsTech Magazin</dc:creator>
  <cp:lastModifiedBy>VersicherungsTech Magazin</cp:lastModifiedBy>
  <cp:revision>1</cp:revision>
  <dcterms:created xsi:type="dcterms:W3CDTF">2026-08-05T22:52:05Z</dcterms:created>
  <dcterms:modified xsi:type="dcterms:W3CDTF">2026-08-05T22:52:05Z</dcterms:modified>
</cp:coreProperties>
</file>